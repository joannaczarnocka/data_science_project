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FFFFFF"/>
                </a:solidFill>
              </a:rPr>
              <a:t>HR Attrition — </a:t>
            </a:r>
            <a:r>
              <a:rPr sz="3400" b="1" dirty="0" err="1">
                <a:solidFill>
                  <a:srgbClr val="FFFFFF"/>
                </a:solidFill>
              </a:rPr>
              <a:t>Predykcja</a:t>
            </a:r>
            <a:r>
              <a:rPr sz="3400" b="1" dirty="0">
                <a:solidFill>
                  <a:srgbClr val="FFFFFF"/>
                </a:solidFill>
              </a:rPr>
              <a:t> </a:t>
            </a:r>
            <a:r>
              <a:rPr sz="3400" b="1" dirty="0" err="1">
                <a:solidFill>
                  <a:srgbClr val="FFFFFF"/>
                </a:solidFill>
              </a:rPr>
              <a:t>odej</a:t>
            </a:r>
            <a:r>
              <a:rPr lang="pl-PL" sz="3400" b="1" dirty="0" err="1">
                <a:solidFill>
                  <a:srgbClr val="FFFFFF"/>
                </a:solidFill>
              </a:rPr>
              <a:t>ść</a:t>
            </a:r>
            <a:r>
              <a:rPr sz="3400" b="1" dirty="0">
                <a:solidFill>
                  <a:srgbClr val="FFFFFF"/>
                </a:solidFill>
              </a:rPr>
              <a:t> </a:t>
            </a:r>
            <a:r>
              <a:rPr sz="3400" b="1" dirty="0" err="1">
                <a:solidFill>
                  <a:srgbClr val="FFFFFF"/>
                </a:solidFill>
              </a:rPr>
              <a:t>pracownik</a:t>
            </a:r>
            <a:r>
              <a:rPr lang="pl-PL" sz="3400" b="1" dirty="0">
                <a:solidFill>
                  <a:srgbClr val="FFFFFF"/>
                </a:solidFill>
              </a:rPr>
              <a:t>ó</a:t>
            </a:r>
            <a:r>
              <a:rPr sz="3400" b="1" dirty="0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FF"/>
                </a:solidFill>
              </a:rPr>
              <a:t>Projekt Data Science: EDA · Feature Engineering · Modele klasyfikacji ·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64008" cy="6400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Zbior: IBM HR Analytics (1470 pracownikow, 16% Attrition)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310128"/>
            <a:ext cx="64008" cy="6400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264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Modele: Logistic Regression, SVM, Random Forest, XGBoost, MLP, TF Neural Network, Voting, Stacking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694176"/>
            <a:ext cx="64008" cy="6400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64845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Feature engineering: 88 cech (v1/v2/v3/v4)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078224"/>
            <a:ext cx="64008" cy="6400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03250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Wyniki: F1=0.598 (Voting LR+SVM), AUC=0.821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4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2910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Joanna Czarnocka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</a:rPr>
              <a:t>Projekt Data Science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Analiza eksploracyjna danych (EDA)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Feature Engineering — 88 cech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SMOTE vs class_weight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Modele klasyfikacji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Feature Importance per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9456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Ensemble: Voting i Stacking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0040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Wyniki — TRAIN vs TEST, obie klasy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06240"/>
            <a:ext cx="54864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Najlepszy model +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01. Analiza eksploracyjna danych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IBM HR Analytics — 1470 pracownikow, 35 cech surowych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Zbior danych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1470 pracownikow · 35 kolumn · 0 brakow danych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Klasa docelowa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Attrition=1 (odejscie): 237/1470 = 16.1%  — silna nierownosc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78608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0545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Cechy kategoryczne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7 kolumn: BusinessTravel, Department, Gender, JobRole,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36976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6382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Cechy numeryczne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467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28 kolumn: Age, MonthlyIncome, YearsAtCompany,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95344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822191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Kluczowe korelaty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OverTime (P=0.25), MaritalStatus=Single, JobLevel niski,
dystans od domu wysoki, krotki staz u managera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53712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48055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Rozkłady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MonthlyIncome: prawoskosny · Age: normalny
Attrition=1 wyraznie mlodsi i gorzej zarabiajacy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148EA-A789-6129-BE61-7B8AFE31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215155-D11E-614B-EC3D-F213D4D5F557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4463B-EE0F-2685-F1C3-19CC9F41DA34}"/>
              </a:ext>
            </a:extLst>
          </p:cNvPr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01. Analiza eksploracyjna danych (EDA)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D1E69-0CFE-1FCF-D832-5056A074E2C0}"/>
              </a:ext>
            </a:extLst>
          </p:cNvPr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IBM HR Analytics — 1470 pracownikow, 35 cech surowych</a:t>
            </a:r>
          </a:p>
        </p:txBody>
      </p:sp>
      <p:pic>
        <p:nvPicPr>
          <p:cNvPr id="24" name="Picture 23" descr="eda_categorical_attrition.png">
            <a:extLst>
              <a:ext uri="{FF2B5EF4-FFF2-40B4-BE49-F238E27FC236}">
                <a16:creationId xmlns:a16="http://schemas.microsoft.com/office/drawing/2014/main" id="{20738AD3-4E0F-80AD-C124-E032266BF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6" y="1682496"/>
            <a:ext cx="11612880" cy="5084064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8EA49C58-12A4-FD50-6FBC-C105A6D8C791}"/>
              </a:ext>
            </a:extLst>
          </p:cNvPr>
          <p:cNvSpPr/>
          <p:nvPr/>
        </p:nvSpPr>
        <p:spPr>
          <a:xfrm>
            <a:off x="13652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021F18A-4CFE-CBC8-4C99-078DA1017465}"/>
              </a:ext>
            </a:extLst>
          </p:cNvPr>
          <p:cNvSpPr txBox="1"/>
          <p:nvPr/>
        </p:nvSpPr>
        <p:spPr>
          <a:xfrm>
            <a:off x="287972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01. Analiza eksploracyjna danych (EDA)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EE2A046C-1713-5862-3D71-A45B9C71953E}"/>
              </a:ext>
            </a:extLst>
          </p:cNvPr>
          <p:cNvSpPr txBox="1"/>
          <p:nvPr/>
        </p:nvSpPr>
        <p:spPr>
          <a:xfrm>
            <a:off x="287972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IBM HR Analytics — 1470 pracownikow, 35 cech surowych</a:t>
            </a:r>
          </a:p>
        </p:txBody>
      </p:sp>
      <p:sp>
        <p:nvSpPr>
          <p:cNvPr id="61" name="Rectangle 19">
            <a:extLst>
              <a:ext uri="{FF2B5EF4-FFF2-40B4-BE49-F238E27FC236}">
                <a16:creationId xmlns:a16="http://schemas.microsoft.com/office/drawing/2014/main" id="{285DBF87-F2A4-F981-53D2-66D79F601FFD}"/>
              </a:ext>
            </a:extLst>
          </p:cNvPr>
          <p:cNvSpPr/>
          <p:nvPr/>
        </p:nvSpPr>
        <p:spPr>
          <a:xfrm>
            <a:off x="440372" y="4706112"/>
            <a:ext cx="54864" cy="25603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1514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02. Feature Engineering — 88 cech wejsciowych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19 cech v1/v2 + 17 v3 + 12 v4 + 7 OHE kategorycznych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v1/v2 — Stabilnosc i kariera (19 cech)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IncomePerYearExp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562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CompanyTenureRatio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57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RoleStabilityRatio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59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PromotionIntensity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614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OvertimeLowSat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TravelBurden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649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3657600" cy="36576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v3 — Ryzyko i wypalenie (17 cech)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BurnoutRiskScore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562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StabilityComposite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57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TravelFatigue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59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CommuteRisk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614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FrequentJobSwitcher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SatisfactionVariance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649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097280"/>
            <a:ext cx="3657600" cy="365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v4 — Zaangazowanie i opcje (12 cech)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LowJobInvolvement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8562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NoStockOptions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57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StockRetentionRisk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59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TotalDissatisfaction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614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InvolvementXSatisfaction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63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• ...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56692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03. Niezbalansowanie klas — SMOTE vs class_weight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16% klasy Attrition=1 — kluczowa decyzja architektoniczna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27432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977639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Metoda balansowania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Uzasadnienie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LR, RF, BRF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SMOTE (strategy=1.0)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Wymaga pelnego balansowania dla konwergencji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class_weight='balanced'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SMOTE powodowal overfitting (ΔF1=0.19→0.06)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MLP (sklearn)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class_weight w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SMOTE powodowal overfitting (ΔF1=0.46→0.22)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TF Neural Net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class_weight w fit()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Jak MLP — class_weight bardziej stabilny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scale_pos_weight=5.2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Natywne wazenie, SMOTE nie potrzebny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Stacking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Osobne strategie czlonkow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Kazdy bazowy model ma swoja strategie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04. Modele klasyfikacji — architektura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engineer(features) → [select_top20] → preprocess(OHE) → [SMOTE] → [scaler] →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7432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L2/ElasticNet, C=0.001
SMOTE 1.0, StandardScaler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743200" cy="4114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0020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6459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RBF/linear, C=0.001
class_weight='balanced'
StandardScaler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188720"/>
            <a:ext cx="274320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0020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6459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BRF, max_depth=4
min_samples_leaf=15
SMOTE 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188720"/>
            <a:ext cx="274320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Balanced RF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60020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6459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BRF sampling_strategy='all'
max_depth=4
SMOTE 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383280"/>
            <a:ext cx="27432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79476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max_depth=1-3
scale_pos_weight=5.2
Early stopping (36 iter)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383280"/>
            <a:ext cx="27432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MLP sklearn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379476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arch=(32,)
alpha=0.3, tanh
class_weight, early stop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383280"/>
            <a:ext cx="2743200" cy="4114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TF Neural 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79476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Dense(64→32→16)
Dropout=0.3, BN, L2=0.01
class_weight, patience=20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383280"/>
            <a:ext cx="274320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Stacking LR+SVM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794760"/>
            <a:ext cx="274320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384048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Baza: LR + SVM
Meta: LR (C=0.1)
5-fold CV probabilities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4864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97D"/>
                </a:solidFill>
              </a:rPr>
              <a:t>Wspolny krok 0: FeatureEngineeringTransformer — pipeline jest samowystarczalny (surowe dane → predykcja)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05. Feature Importance — co napędza predykcję odejść?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Metoda ważności cech dobrana do klasy modelu | Normalizacja [0,1] per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743200" cy="2926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12471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3990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</a:rPr>
              <a:t>|coef_| (ElasticNet)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97280"/>
            <a:ext cx="2743200" cy="2926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27832" y="112471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RF / Balanced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13990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</a:rPr>
              <a:t>Gini impurity (mean decrease)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97280"/>
            <a:ext cx="2743200" cy="292608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112471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3990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</a:rPr>
              <a:t>Gain (information gain per split)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097280"/>
            <a:ext cx="274320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12471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SVM /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3990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04040"/>
                </a:solidFill>
              </a:rPr>
              <a:t>Permutation importance (F1)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737360"/>
            <a:ext cx="11887200" cy="3200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37160" y="5029200"/>
            <a:ext cx="1179576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497D"/>
                </a:solidFill>
              </a:rPr>
              <a:t>Cechy wspólne dla wszystkich modeli: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58968"/>
            <a:ext cx="45720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394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OverTime / OvertimeLowSat — praca w nadgodzinach to najsilniejszy predyktor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715000"/>
            <a:ext cx="45720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56509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StockDissatisfactionRisk / NoStockOptions — brak opcji akcji + niezadowolenie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971032"/>
            <a:ext cx="45720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9070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InvolvementXSatisfaction — iloczyn zaangażowania i satysfakcji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227064"/>
            <a:ext cx="45720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16305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CompaniesPerYear / FrequentJobSwitcher — historia zmian pracodawców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483096"/>
            <a:ext cx="45720" cy="16459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Age + MonthlyIncome — młodzi i nisko opłacani odchodzą najczęściej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05b. Porównanie ważności cech między modelami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Normalizacja [0,1] per model | Top-15 wg średniej rangi | czerwony = wysoka ważność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497D"/>
                </a:solidFill>
              </a:rPr>
              <a:t>Wniosek: OverTime-pochodne, StockOption-ryzyko i metryki satysfakcji są kluczowe we WSZYSTKICH modelach — potwierdza sensowność feature engineering v4.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05a. Ensemble — Voting LR+SVM (najlepszy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Soft voting: usrednienie prawdopodobienstw P(Attrition=1)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2926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09728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Metryka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LR (solo)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SVM (solo)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Voting LR+SVM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F1 (Rezygnuje)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0.598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Overfit ΔF1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114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Dlaczego voting wygrywa: LR ma wyzsza Precision (0.611), SVM wyzsza Recall (0.632) — usrednienie kompensuje slabosci i daje lepszy F1 niz kazdy z osobna.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5029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05b. Stacking LR+SVM — meta-learner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Stacking 2-poziomowy: LR + SVM jako baza, LR jako meta-klasyfikator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657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0" y="13716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Stacking BRF+XGB+CB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Stacking LR+SVM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CV (ROC-AUC)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0.698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F1_TEST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0.278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zbiezny z LR/SVM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Recall=1.0?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TAK (zdegenerowany)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NIE — poprawiony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06. Wyniki wszystkich modeli — TRAIN vs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Zbior testowy: 588 probek · Attrition=1: 95 (16.2%)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4747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709160"/>
          <a:ext cx="7726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F1_tr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F1_te
(Rej.)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F1_te
(Zos.)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Overfit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Voting LR+SVM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Voting LR+SVM+MLP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0.143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TF Neural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MLP (sklearn)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0.216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Balanced 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0.659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0.791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0.166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0.914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0.389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0.806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0.366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06b. Wyniki per klasa — Zostaje (0) vs Rezygnuje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Klasa 1 (Rezygnuje) to glowny cel predykcji — kosztowna pomylka: FN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8404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Interpretacja biznesowa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FN (False Negative) = pracownik
odejdzie a model nie przewidzi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→ koszt: utrata talentow,
   rekrutacja (6-9x miesieczna pensja)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260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FP (False Positive) = falszywy alarm
→ koszt: zbedna retencja (~500 zl)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5661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Optymalny model: wysoki Recall
bez za duzej liczby 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2062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Voting LR+SVM:
  TN=450, FP=43, FN=33, TP=62
  Recall=0.642 — wykrywa 62/95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07. Najlepszy model — Voting LR+SVM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F1=0.598 · AUC=0.821 · Overfit=0.061 · TN=450, FP=43, FN=33, TP=62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47472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F1 (Rezygnuje)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0.598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59" y="1097280"/>
            <a:ext cx="3474720" cy="9144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0.560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097280"/>
            <a:ext cx="347472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0.642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94560"/>
            <a:ext cx="347472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0.821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59" y="2194560"/>
            <a:ext cx="347472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0.861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194560"/>
            <a:ext cx="3474720" cy="9144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Overfit ΔF1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0.061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46120"/>
            <a:ext cx="6858000" cy="34747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223760" y="3291840"/>
            <a:ext cx="4754880" cy="3383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Wnioski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822191"/>
            <a:ext cx="45720" cy="2286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374903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Voting LR+SVM przewyzsza oba
modele solo (+0.003/+0.007 F1)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389120"/>
            <a:ext cx="45720" cy="2286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43159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Najnizszy overfit wsrod ensembli
(ΔF1=0.061 vs voting 3-czl. 0.144)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956048"/>
            <a:ext cx="45720" cy="2286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52360" y="488289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Wykrywa 62/95 odejsc (Recall=64%)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5522976"/>
            <a:ext cx="45720" cy="2286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60" y="544982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Prog OOF = 0.53 — uczciwy,
bez przecieku na dane testowe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6089904"/>
            <a:ext cx="45720" cy="2286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52360" y="601675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04040"/>
                </a:solidFill>
              </a:rPr>
              <a:t>Realny pułap F1: ~0.56-0.65
(syntetyczny zbior 1470 prob.)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08. Clustering pracownikow — KMeans k=4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Segmentacja 1470 pracownikow na 21 cechach numerycznych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74320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Klaster 0: Nomadzi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</a:rPr>
              <a:t>N = 447 (30%)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Attrition: 19%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Ryzyko HR: Srednie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Wysoka mobilnosc (5 firm)
Sredni wiek 36 lat
Krotki staz ~3 lata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097280"/>
            <a:ext cx="274320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Klaster 1: Starterzy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554480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</a:rPr>
              <a:t>N = 431 (29%)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745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</a:rPr>
              <a:t>Attrition: 22% NAJWYZSZY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48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</a:rPr>
              <a:t>Ryzyko HR: WYSOKIE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Mlodzi ~30 lat
Najnizsze zarobki $3380
Pierwsza lub druga praca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Klaster 2: Lojalni Stagnujacy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554480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</a:rPr>
              <a:t>N = 407 (28%)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745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Attrition: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148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Ryzyko HR: Niskie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Dlugi staz ~10 lat
Brak awansu &gt;4 lata
Niska mobilnosc historyczna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097280"/>
            <a:ext cx="2743200" cy="45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Klaster 3: Seniorzy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554480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</a:rPr>
              <a:t>N = 185 (13%)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8745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Attrition: 9% najnizszy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148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Ryzyko HR: Niskie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Najstarsi ~47 lat
Najwyzsze zarobki $15490
Menagerscy/dyrektorzy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92040"/>
            <a:ext cx="5029200" cy="1920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394960" y="4892040"/>
            <a:ext cx="658368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0" y="49377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Rekomendacje HR per segment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5312664"/>
            <a:ext cx="45720" cy="1828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23560" y="52578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Starterzy (PRIORYTET): podwyzki entry-level · buddy/mentoring · awanse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5650992"/>
            <a:ext cx="45720" cy="1828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23560" y="559612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Nomadzi: jasna sciezka kariery · projekty z nowymi kompetencjami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5989320"/>
            <a:ext cx="45720" cy="1828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23560" y="593445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Lojalni Stagnujacy: lateral moves · programy uznaniowe · nowe projekty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6327648"/>
            <a:ext cx="45720" cy="18288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23560" y="627278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Seniorzy: mentoring odwrocony · elastyczne formy pracy · sukcesja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Podsumowanie projektu HR Attrition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1470 pracownikow · 16% Attrition
OverTime, JobLevel, staz — klucz. predyktory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143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88 cech: 19(v1/v2) + 17(v3) + 12(v4) + OHE
BurnoutRiskScore, StabilityComposite, TravelFatigue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143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6002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8 modeli bazowych + warianty top-20
LR/SVM najlepiej generalizuja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SMOTE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LR/RF: SMOTE 1.0 | SVM/MLP/TF: class_weight
Eliminacja overfittingu SVM: 0.19→0.06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10896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Najlepszy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56616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3611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Voting LR+SVM  F1=0.598  AUC=0.821
Overfit=0.061 · Recall=0.642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108960"/>
            <a:ext cx="3566160" cy="4572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3154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Clustering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566160" cy="1371600"/>
          </a:xfrm>
          <a:prstGeom prst="rect">
            <a:avLst/>
          </a:prstGeom>
          <a:solidFill>
            <a:srgbClr val="18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61188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 segmenty · Starterzy (22% Attrition)
59% zespolu = glowne koszty rotacji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</a:rPr>
              <a:t>Realny pułap F1 dla syntetycznego IBM HR Attrition (~16% klasy): 0.56–0.65 · Powyzej wymaga wiekszego zbioru lub AutoML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4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2910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Joanna Czarnocka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DD"/>
                </a:solidFill>
              </a:rPr>
              <a:t>Projekt Data Science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1712</Words>
  <Application>Microsoft Office PowerPoint</Application>
  <PresentationFormat>Niestandardowy</PresentationFormat>
  <Paragraphs>330</Paragraphs>
  <Slides>16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Joanna Czarnocka</cp:lastModifiedBy>
  <cp:revision>3</cp:revision>
  <dcterms:created xsi:type="dcterms:W3CDTF">2013-01-27T09:14:16Z</dcterms:created>
  <dcterms:modified xsi:type="dcterms:W3CDTF">2026-05-30T18:42:31Z</dcterms:modified>
  <cp:category/>
</cp:coreProperties>
</file>