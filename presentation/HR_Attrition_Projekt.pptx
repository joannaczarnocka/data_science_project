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9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88952" cy="73152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HR Attrition — Predykcja odejsc pracownikow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CCDDFF"/>
                </a:solidFill>
              </a:rPr>
              <a:t>Projekt Data Science: EDA · Feature Engineering · Modele klasyfikacji · Clustering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926080"/>
            <a:ext cx="64008" cy="64008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88036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Zbior: IBM HR Analytics (1470 pracownikow, 16% Attrition)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3310128"/>
            <a:ext cx="64008" cy="64008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326440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Modele: Logistic Regression, SVM, Random Forest, XGBoost, MLP, TF Neural Network, Voting, Stacking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694176"/>
            <a:ext cx="64008" cy="64008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3648456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Feature engineering: 88 cech (v1/v2/v3/v4)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4078224"/>
            <a:ext cx="64008" cy="64008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4032504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Wyniki: F1=0.598 (Voting LR+SVM), AUC=0.821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143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29107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Joanna Czarnocka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BBDD"/>
                </a:solidFill>
              </a:rPr>
              <a:t>Projekt Data Science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48640" cy="548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2344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Analiza eksploracyjna danych (EDA)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194560"/>
            <a:ext cx="548640" cy="548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22402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Feature Engineering — 88 cech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200400"/>
            <a:ext cx="548640" cy="548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32461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291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SMOTE vs class_weight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206240"/>
            <a:ext cx="548640" cy="548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42519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297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Modele klasyfikacji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188720"/>
            <a:ext cx="548640" cy="548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2344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Feature Importance per model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2194560"/>
            <a:ext cx="548640" cy="548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22402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Ensemble: Voting i Stacking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3200400"/>
            <a:ext cx="548640" cy="548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32461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3291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Wyniki — TRAIN vs TEST, obie klasy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4206240"/>
            <a:ext cx="548640" cy="548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42519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4297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Najlepszy model + Clustering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01. Analiza eksploracyjna danych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FF"/>
                </a:solidFill>
              </a:rPr>
              <a:t>IBM HR Analytics — 1470 pracownikow, 35 cech surowych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61872"/>
            <a:ext cx="54864" cy="256032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Zbior danych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1470 pracownikow · 35 kolumn · 0 brakow danych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920240"/>
            <a:ext cx="54864" cy="256032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4708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Klasa docelowa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2996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Attrition=1 (odejscie): 237/1470 = 16.1%  — silna nierownosc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578608"/>
            <a:ext cx="54864" cy="256032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505456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Cechy kategoryczne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8833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7 kolumn: BusinessTravel, Department, Gender, JobRole, 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236976"/>
            <a:ext cx="54864" cy="256032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163824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Cechy numeryczne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346704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28 kolumn: Age, MonthlyIncome, YearsAtCompany, ...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895344"/>
            <a:ext cx="54864" cy="256032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22191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Kluczowe korelaty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00507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OverTime (P=0.25), MaritalStatus=Single, JobLevel niski,
dystans od domu wysoki, krotki staz u managera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553712"/>
            <a:ext cx="54864" cy="256032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480559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Rozkłady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6634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MonthlyIncome: prawoskosny · Age: normalny
Attrition=1 wyraznie mlodsi i gorzej zarabiajacy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943600" cy="3200400"/>
          </a:xfrm>
          <a:prstGeom prst="rect">
            <a:avLst/>
          </a:prstGeom>
        </p:spPr>
      </p:pic>
      <p:pic>
        <p:nvPicPr>
          <p:cNvPr id="24" name="Picture 23" descr="eda_categorical_attr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572000"/>
            <a:ext cx="11612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02. Feature Engineering — 88 cech wejsciowych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FF"/>
                </a:solidFill>
              </a:rPr>
              <a:t>19 cech v1/v2 + 17 v3 + 12 v4 + 7 OHE kategorycznych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657600" cy="3657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v1/v2 — Stabilnosc i kariera (19 cech)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15544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• IncomePerYearExp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1856231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• CompanyTenureRatio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15798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• RoleStabilityRatio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459736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• PromotionIntensity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7614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• OvertimeLowSat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0632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• TravelBurden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3364991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• 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1097280"/>
            <a:ext cx="3657600" cy="365760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79" y="11430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v3 — Ryzyko i wypalenie (17 cech)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15544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• BurnoutRiskScore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1856231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• StabilityComposite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215798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• TravelFatigue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2459736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• CommuteRisk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27614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• FrequentJobSwitcher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30632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• SatisfactionVariance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3364991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• ...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60" y="1097280"/>
            <a:ext cx="3657600" cy="36576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11430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v4 — Zaangazowanie i opcje (12 cech)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5544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• LowJobInvolvement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1856231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• NoStockOptions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5798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• StockRetentionRisk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459736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• TotalDissatisfaction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7614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• InvolvementXSatisfaction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0632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• ...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657600"/>
            <a:ext cx="5669280" cy="3200400"/>
          </a:xfrm>
          <a:prstGeom prst="rect">
            <a:avLst/>
          </a:prstGeom>
        </p:spPr>
      </p:pic>
      <p:pic>
        <p:nvPicPr>
          <p:cNvPr id="32" name="Picture 31" descr="feature_importance_comparison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3657600"/>
            <a:ext cx="57607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03. Niezbalansowanie klas — SMOTE vs class_weight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FF"/>
                </a:solidFill>
              </a:rPr>
              <a:t>16% klasy Attrition=1 — kluczowa decyzja architektoniczna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772400" cy="27432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3977639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26080"/>
                <a:gridCol w="6492240"/>
              </a:tblGrid>
              <a:tr h="391885"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Metoda balansowania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Uzasadnienie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LR, RF, BRF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SMOTE (strategy=1.0)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Wymaga pelnego balansowania dla konwergencji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SVM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class_weight='balanced'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SMOTE powodowal overfitting (ΔF1=0.19→0.06)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MLP (sklearn)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class_weight w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SMOTE powodowal overfitting (ΔF1=0.46→0.22)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TF Neural Net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class_weight w fit()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Jak MLP — class_weight bardziej stabilny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XGBoost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scale_pos_weight=5.2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Natywne wazenie, SMOTE nie potrzebny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Stacking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Osobne strategie czlonkow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Kazdy bazowy model ma swoja strategie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04. Modele klasyfikacji — architektura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FF"/>
                </a:solidFill>
              </a:rPr>
              <a:t>engineer(features) → [select_top20] → preprocess(OHE) → [SMOTE] → [scaler] →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88720"/>
            <a:ext cx="2743200" cy="4114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2344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Logistic Regression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600200"/>
            <a:ext cx="2743200" cy="1554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645920"/>
            <a:ext cx="2560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</a:rPr>
              <a:t>L2/ElasticNet, C=0.001
SMOTE 1.0, StandardScaler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1188720"/>
            <a:ext cx="2743200" cy="411480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2344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SVM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54680" y="1600200"/>
            <a:ext cx="2743200" cy="1554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645920"/>
            <a:ext cx="2560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</a:rPr>
              <a:t>RBF/linear, C=0.001
class_weight='balanced'
StandardScaler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1188720"/>
            <a:ext cx="2743200" cy="41148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2344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Random Forest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1600200"/>
            <a:ext cx="2743200" cy="1554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645920"/>
            <a:ext cx="2560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</a:rPr>
              <a:t>BRF, max_depth=4
min_samples_leaf=15
SMOTE 1.0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06840" y="1188720"/>
            <a:ext cx="2743200" cy="41148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98280" y="12344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Balanced RF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600200"/>
            <a:ext cx="2743200" cy="1554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1645920"/>
            <a:ext cx="2560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</a:rPr>
              <a:t>BRF sampling_strategy='all'
max_depth=4
SMOTE 1.0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3383280"/>
            <a:ext cx="2743200" cy="4114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34290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XGBoost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3794760"/>
            <a:ext cx="2743200" cy="1554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3840480"/>
            <a:ext cx="2560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</a:rPr>
              <a:t>max_depth=1-3
scale_pos_weight=5.2
Early stopping (36 iter)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54680" y="3383280"/>
            <a:ext cx="2743200" cy="4114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6120" y="34290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MLP sklearn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54680" y="3794760"/>
            <a:ext cx="2743200" cy="1554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46120" y="3840480"/>
            <a:ext cx="2560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</a:rPr>
              <a:t>arch=(32,)
alpha=0.3, tanh
class_weight, early stop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3383280"/>
            <a:ext cx="2743200" cy="411480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34290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TF Neural Net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0760" y="3794760"/>
            <a:ext cx="2743200" cy="1554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3840480"/>
            <a:ext cx="2560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</a:rPr>
              <a:t>Dense(64→32→16)
Dropout=0.3, BN, L2=0.01
class_weight, patience=20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06840" y="3383280"/>
            <a:ext cx="2743200" cy="41148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98280" y="34290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Stacking LR+SVM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06840" y="3794760"/>
            <a:ext cx="2743200" cy="1554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98280" y="3840480"/>
            <a:ext cx="2560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</a:rPr>
              <a:t>Baza: LR + SVM
Meta: LR (C=0.1)
5-fold CV probabilities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548640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F497D"/>
                </a:solidFill>
              </a:rPr>
              <a:t>Wspolny krok 0: FeatureEngineeringTransformer — pipeline jest samowystarczalny (surowe dane → predykcja)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05. Feature Importance — co napędza predykcję odejść?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FF"/>
                </a:solidFill>
              </a:rPr>
              <a:t>Metoda ważności cech dobrana do klasy modelu | Normalizacja [0,1] per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097280"/>
            <a:ext cx="2743200" cy="29260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" y="1124712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Logistic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1399032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404040"/>
                </a:solidFill>
              </a:rPr>
              <a:t>|coef_| (ElasticNet)</a:t>
            </a:r>
          </a:p>
        </p:txBody>
      </p:sp>
      <p:sp>
        <p:nvSpPr>
          <p:cNvPr id="8" name="Rectangle 7"/>
          <p:cNvSpPr/>
          <p:nvPr/>
        </p:nvSpPr>
        <p:spPr>
          <a:xfrm>
            <a:off x="3154680" y="1097280"/>
            <a:ext cx="2743200" cy="292608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27832" y="1124712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RF / Balanced RF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27832" y="1399032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404040"/>
                </a:solidFill>
              </a:rPr>
              <a:t>Gini impurity (mean decrease)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097280"/>
            <a:ext cx="2743200" cy="292608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53912" y="1124712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XGBoost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53912" y="1399032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404040"/>
                </a:solidFill>
              </a:rPr>
              <a:t>Gain (information gain per split)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6840" y="1097280"/>
            <a:ext cx="274320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9992" y="1124712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SVM / MLP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1399032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404040"/>
                </a:solidFill>
              </a:rPr>
              <a:t>Permutation importance (F1)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737360"/>
            <a:ext cx="11887200" cy="32004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137160" y="5029200"/>
            <a:ext cx="11795760" cy="1554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5074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F497D"/>
                </a:solidFill>
              </a:rPr>
              <a:t>Cechy wspólne dla wszystkich modeli: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5458968"/>
            <a:ext cx="45720" cy="164592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3949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OverTime / OvertimeLowSat — praca w nadgodzinach to najsilniejszy predyktor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715000"/>
            <a:ext cx="45720" cy="164592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5650992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StockDissatisfactionRisk / NoStockOptions — brak opcji akcji + niezadowolenie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5971032"/>
            <a:ext cx="45720" cy="164592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5907024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InvolvementXSatisfaction — iloczyn zaangażowania i satysfakcji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6227064"/>
            <a:ext cx="45720" cy="164592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6163056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CompaniesPerYear / FrequentJobSwitcher — historia zmian pracodawców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6483096"/>
            <a:ext cx="45720" cy="164592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641908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Age + MonthlyIncome — młodzi i nisko opłacani odchodzą najczęściej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05b. Porównanie ważności cech między modelami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FF"/>
                </a:solidFill>
              </a:rPr>
              <a:t>Normalizacja [0,1] per model | Top-15 wg średniej rangi | czerwony = wysoka ważność</a:t>
            </a:r>
          </a:p>
        </p:txBody>
      </p:sp>
      <p:pic>
        <p:nvPicPr>
          <p:cNvPr id="5" name="Picture 4" descr="feature_importance_comparis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8046720" cy="53035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0" y="1097280"/>
          <a:ext cx="35661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612648"/>
                <a:gridCol w="612648"/>
                <a:gridCol w="612648"/>
                <a:gridCol w="612648"/>
                <a:gridCol w="612648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Rank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LR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BRF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XGB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CB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#1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OvertimeLowSat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StockDissatisfacti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CompaniesPerYear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OvertimeLowSat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JobRole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#2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BusinessTravel_Tra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IncomePerDependent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StockDissatisfacti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CompaniesPerYear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DailyRate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#3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StockDissatisfacti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OvertimeLowSat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IncomePerDependent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JobInvolvement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StockDissatisfacti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#4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YoungAndOvertime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IncomeVsDeptMedian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InvolvementXSatisf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YoungAndOvertime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HourlyRate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#5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JobRole_Laboratory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InvolvementXSatisf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OvertimeLowSat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StockRetentionRisk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IncomePerDependent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#6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MaritalStatus_Sing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CompaniesPerYear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StockRetentionRisk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StockOptionLevel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Age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#7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InvolvementXSatisf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MonthlyIncome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MonthlyIncome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StockDissatisfacti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Gender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#8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NoStockOptions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StockRetentionRisk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IncomeVsDeptMedian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EducationField_Mar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TravelBurden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#9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CompaniesPerYear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StabilityComposite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StabilityComposite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YearsWithCurrManag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BusinessTravel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#10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SatisfactionVarian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Age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IncomeVsJobLevel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NoStockOptions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SalaryHikeVsPerfor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F497D"/>
                </a:solidFill>
              </a:rPr>
              <a:t>Wniosek: OverTime-pochodne, StockOption-ryzyko i metryki satysfakcji są kluczowe we WSZYSTKICH modelach — potwierdza sensowność feature engineering v4.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05a. Ensemble — Voting LR+SVM (najlepszy model)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FF"/>
                </a:solidFill>
              </a:rPr>
              <a:t>Soft voting: usrednienie prawdopodobienstw P(Attrition=1)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315200" cy="292608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0" y="1097280"/>
          <a:ext cx="4754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914400"/>
                <a:gridCol w="1554480"/>
              </a:tblGrid>
              <a:tr h="487680"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Metryka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LR (solo)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SVM (solo)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Voting LR+SVM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F1 (Rezygnuje)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0.595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0.591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0.598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0.611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0.556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0.560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0.579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0.632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0.642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ROC-AUC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0.824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0.816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0.821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Overfit ΔF1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0.095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0.057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0.061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41148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04040"/>
                </a:solidFill>
              </a:rPr>
              <a:t>Dlaczego voting wygrywa: LR ma wyzsza Precision (0.611), SVM wyzsza Recall (0.632) — usrednienie kompensuje slabosci i daje lepszy F1 niz kazdy z osobna.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572000"/>
            <a:ext cx="502920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05b. Stacking LR+SVM — meta-learner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FF"/>
                </a:solidFill>
              </a:rPr>
              <a:t>Stacking 2-poziomowy: LR + SVM jako baza, LR jako meta-klasyfikator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772400" cy="36576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046720" y="1371600"/>
          <a:ext cx="4572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64592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Stacking BRF+XGB+CB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Stacking LR+SVM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CV (ROC-AUC)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0.548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0.698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F1_TEST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0.278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zbiezny z LR/SVM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Recall=1.0?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TAK (zdegenerowany)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NIE — poprawiony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06. Wyniki wszystkich modeli — TRAIN vs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FF"/>
                </a:solidFill>
              </a:rPr>
              <a:t>Zbior testowy: 588 probek · Attrition=1: 95 (16.2%)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772400" cy="34747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4709160"/>
          <a:ext cx="77266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</a:tblGrid>
              <a:tr h="191192"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F1_tr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F1_te
(Rej.)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F1_te
(Zos.)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Prec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Overfit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Voting LR+SVM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0.659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0.598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0.916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0.560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0.642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0.821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0.061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Logistic Regression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0.690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0.595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0.924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0.611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0.579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0.824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0.095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SVM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0.648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0.591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0.915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0.556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0.632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0.816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0.057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Voting LR+SVM+MLP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0.712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0.569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0.909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0.532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0.611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0.818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0.143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TF Neural Network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0.926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0.520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0.899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0.486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0.558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0.764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0.406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MLP (sklearn)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0.726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0.510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0.872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0.419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0.653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0.803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0.216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0.624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0.504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0.879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0.430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0.611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0.792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Balanced 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0.659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0.493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0.881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0.430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0.579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0.791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0.166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CatBoost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0.983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0.466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0.898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0.468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0.463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0.801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0.517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120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XGBoost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0.826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0.460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0.914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0.561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0.389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0.806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0.366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06b. Wyniki per klasa — Zostaje (0) vs Rezygnuje (1)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FF"/>
                </a:solidFill>
              </a:rPr>
              <a:t>Klasa 1 (Rezygnuje) to glowny cel predykcji — kosztowna pomylka: FN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7724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38160" y="1188720"/>
            <a:ext cx="3840480" cy="3474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280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Interpretacja biznesowa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645920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FN (False Negative) = pracownik
odejdzie a model nie przewidzi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→ koszt: utrata talentow,
   rekrutacja (6-9x miesieczna pensja)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926080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FP (False Positive) = falszywy alarm
→ koszt: zbedna retencja (~500 zl)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566160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Optymalny model: wysoki Recall
bez za duzej liczby FP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206240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Voting LR+SVM:
  TN=445, FP=48, FN=34, TP=61
  Recall=0.642 — wykrywa 61/95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07. Najlepszy model — Voting LR+SVM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FF"/>
                </a:solidFill>
              </a:rPr>
              <a:t>F1=0.598 · AUC=0.821 · Overfit=0.061 · TN=445, FP=48, FN=34, TP=61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474720" cy="9144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11430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F1 (Rezygnuje)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146304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0.598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59" y="1097280"/>
            <a:ext cx="3474720" cy="914400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60520" y="11430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Precision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146304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0.560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1097280"/>
            <a:ext cx="3474720" cy="91440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1430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Recall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146304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0.642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194560"/>
            <a:ext cx="3474720" cy="9144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224027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25603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0.821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59" y="2194560"/>
            <a:ext cx="3474720" cy="91440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60520" y="224027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25603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0.861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2194560"/>
            <a:ext cx="3474720" cy="91440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09560" y="224027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Overfit ΔF1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25603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0.061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246120"/>
            <a:ext cx="6858000" cy="347472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7223760" y="3291840"/>
            <a:ext cx="4754880" cy="3383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0" y="33832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497D"/>
                </a:solidFill>
              </a:rPr>
              <a:t>Wnioski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3822191"/>
            <a:ext cx="45720" cy="228600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52360" y="3749039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</a:rPr>
              <a:t>Voting LR+SVM przewyzsza oba
modele solo (+0.003/+0.007 F1)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4389120"/>
            <a:ext cx="45720" cy="228600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52360" y="4315968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</a:rPr>
              <a:t>Najnizszy overfit wsrod ensembli
(ΔF1=0.061 vs voting 3-czl. 0.144)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4956048"/>
            <a:ext cx="45720" cy="228600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52360" y="4882896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</a:rPr>
              <a:t>Wykrywa 62/95 odejsc (Recall=64%)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5522976"/>
            <a:ext cx="45720" cy="228600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52360" y="5449824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</a:rPr>
              <a:t>Prog OOF = 0.53 — uczciwy,
bez przecieku na dane testowe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0" y="6089904"/>
            <a:ext cx="45720" cy="228600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52360" y="6016752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</a:rPr>
              <a:t>Realny pułap F1: ~0.56-0.65
(syntetyczny zbior 1470 prob.)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08. Clustering pracownikow — KMeans k=4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FF"/>
                </a:solidFill>
              </a:rPr>
              <a:t>Segmentacja 1470 pracownikow na 21 cechach numerycznych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97280"/>
            <a:ext cx="2743200" cy="4572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143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Klaster 0: Nomadzi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554480"/>
            <a:ext cx="2743200" cy="3200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04040"/>
                </a:solidFill>
              </a:rPr>
              <a:t>N = 447 (30%)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874519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Attrition: 19%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14884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Ryzyko HR: Srednie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468880"/>
            <a:ext cx="2560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Wysoka mobilnosc (5 firm)
Sredni wiek 36 lat
Krotki staz ~3 lata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1097280"/>
            <a:ext cx="2743200" cy="457200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1143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Klaster 1: Starterzy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1554480"/>
            <a:ext cx="2743200" cy="3200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04040"/>
                </a:solidFill>
              </a:rPr>
              <a:t>N = 431 (29%)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1874519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00000"/>
                </a:solidFill>
              </a:rPr>
              <a:t>Attrition: 22% NAJWYZSZY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14884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00000"/>
                </a:solidFill>
              </a:rPr>
              <a:t>Ryzyko HR: WYSOKIE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468880"/>
            <a:ext cx="2560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Mlodzi ~30 lat
Najnizsze zarobki $3380
Pierwsza lub druga praca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1097280"/>
            <a:ext cx="2743200" cy="45720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1143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Klaster 2: Lojalni Stagnujacy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554480"/>
            <a:ext cx="2743200" cy="3200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04040"/>
                </a:solidFill>
              </a:rPr>
              <a:t>N = 407 (28%)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1874519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Attrition: 10%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214884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Ryzyko HR: Niskie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2468880"/>
            <a:ext cx="2560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Dlugi staz ~10 lat
Brak awansu &gt;4 lata
Niska mobilnosc historyczna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61120" y="1097280"/>
            <a:ext cx="2743200" cy="457200"/>
          </a:xfrm>
          <a:prstGeom prst="rect">
            <a:avLst/>
          </a:prstGeom>
          <a:solidFill>
            <a:srgbClr val="8B45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0" y="1143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Klaster 3: Seniorzy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1120" y="1554480"/>
            <a:ext cx="2743200" cy="3200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04040"/>
                </a:solidFill>
              </a:rPr>
              <a:t>N = 185 (13%)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1874519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Attrition: 9% najnizszy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14884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</a:rPr>
              <a:t>Ryzyko HR: Niskie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2468880"/>
            <a:ext cx="2560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Najstarsi ~47 lat
Najwyzsze zarobki $15490
Menagerscy/dyrektorzy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892040"/>
            <a:ext cx="5029200" cy="192024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5394960" y="4892040"/>
            <a:ext cx="6583680" cy="1920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0" y="4937760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Rekomendacje HR per segment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0" y="5312664"/>
            <a:ext cx="45720" cy="182880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23560" y="5257800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Starterzy (PRIORYTET): podwyzki entry-level · buddy/mentoring · awanse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0" y="5650992"/>
            <a:ext cx="45720" cy="182880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23560" y="5596128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Nomadzi: jasna sciezka kariery · projekty z nowymi kompetencjami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0" y="5989320"/>
            <a:ext cx="45720" cy="182880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23560" y="5934456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Lojalni Stagnujacy: lateral moves · programy uznaniowe · nowe projekty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0" y="6327648"/>
            <a:ext cx="45720" cy="182880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23560" y="6272784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Seniorzy: mentoring odwrocony · elastyczne formy pracy · sukcesja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9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0"/>
            <a:ext cx="12188952" cy="73152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Podsumowanie projektu HR Attrition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3566160" cy="457200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EDA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3566160" cy="1371600"/>
          </a:xfrm>
          <a:prstGeom prst="rect">
            <a:avLst/>
          </a:prstGeom>
          <a:solidFill>
            <a:srgbClr val="183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1470 pracownikow · 16% Attrition
OverTime, JobLevel, staz — klucz. predyktory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097280"/>
            <a:ext cx="3566160" cy="457200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0" y="11430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Feature Eng.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554480"/>
            <a:ext cx="3566160" cy="1371600"/>
          </a:xfrm>
          <a:prstGeom prst="rect">
            <a:avLst/>
          </a:prstGeom>
          <a:solidFill>
            <a:srgbClr val="183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88 cech: 19(v1/v2) + 17(v3) + 12(v4) + OHE
BurnoutRiskScore, StabilityComposite, TravelFatigue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097280"/>
            <a:ext cx="3566160" cy="457200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1430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Modele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554480"/>
            <a:ext cx="3566160" cy="1371600"/>
          </a:xfrm>
          <a:prstGeom prst="rect">
            <a:avLst/>
          </a:prstGeom>
          <a:solidFill>
            <a:srgbClr val="183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60020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8 modeli bazowych + warianty top-20
LR/SVM najlepiej generalizuja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108960"/>
            <a:ext cx="3566160" cy="457200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1546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SMOTE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566160"/>
            <a:ext cx="3566160" cy="1371600"/>
          </a:xfrm>
          <a:prstGeom prst="rect">
            <a:avLst/>
          </a:prstGeom>
          <a:solidFill>
            <a:srgbClr val="183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61188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LR/RF: SMOTE 1.0 | SVM/MLP/TF: class_weight
Eliminacja overfittingu SVM: 0.19→0.06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3108960"/>
            <a:ext cx="3566160" cy="457200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0" y="31546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Najlepszy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06240" y="3566160"/>
            <a:ext cx="3566160" cy="1371600"/>
          </a:xfrm>
          <a:prstGeom prst="rect">
            <a:avLst/>
          </a:prstGeom>
          <a:solidFill>
            <a:srgbClr val="183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0" y="361188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Voting LR+SVM  F1=0.598  AUC=0.821
Overfit=0.061 · Recall=0.642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3108960"/>
            <a:ext cx="3566160" cy="457200"/>
          </a:xfrm>
          <a:prstGeom prst="rect">
            <a:avLst/>
          </a:prstGeom>
          <a:solidFill>
            <a:srgbClr val="C05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60" y="31546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Clustering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3566160"/>
            <a:ext cx="3566160" cy="1371600"/>
          </a:xfrm>
          <a:prstGeom prst="rect">
            <a:avLst/>
          </a:prstGeom>
          <a:solidFill>
            <a:srgbClr val="183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361188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4 segmenty · Starterzy (22% Attrition)
59% zespolu = glowne koszty rotacji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1206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DDFF"/>
                </a:solidFill>
              </a:rPr>
              <a:t>Realny pułap F1 dla syntetycznego IBM HR Attrition (~16% klasy): 0.56–0.65 · Powyzej wymaga wiekszego zbioru lub AutoML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143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2910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Joanna Czarnocka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BBDD"/>
                </a:solidFill>
              </a:rPr>
              <a:t>Projekt Data Science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